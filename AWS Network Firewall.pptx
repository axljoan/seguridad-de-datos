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50" r:id="rId1"/>
  </p:sldMasterIdLst>
  <p:notesMasterIdLst>
    <p:notesMasterId r:id="rId13"/>
  </p:notesMasterIdLst>
  <p:sldIdLst>
    <p:sldId id="256" r:id="rId2"/>
    <p:sldId id="257" r:id="rId3"/>
    <p:sldId id="276" r:id="rId4"/>
    <p:sldId id="278" r:id="rId5"/>
    <p:sldId id="279" r:id="rId6"/>
    <p:sldId id="284" r:id="rId7"/>
    <p:sldId id="259" r:id="rId8"/>
    <p:sldId id="265" r:id="rId9"/>
    <p:sldId id="281" r:id="rId10"/>
    <p:sldId id="282" r:id="rId11"/>
    <p:sldId id="283" r:id="rId12"/>
  </p:sldIdLst>
  <p:sldSz cx="12192000" cy="6858000"/>
  <p:notesSz cx="6858000" cy="9144000"/>
  <p:embeddedFontLst>
    <p:embeddedFont>
      <p:font typeface="Rockwell" panose="02060603020205020403" pitchFamily="18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Bookman Old Style" panose="02050604050505020204" pitchFamily="18" charset="0"/>
      <p:regular r:id="rId22"/>
      <p:bold r:id="rId23"/>
      <p:italic r:id="rId24"/>
      <p:boldItalic r:id="rId25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43" autoAdjust="0"/>
    <p:restoredTop sz="96395" autoAdjust="0"/>
  </p:normalViewPr>
  <p:slideViewPr>
    <p:cSldViewPr snapToGrid="0">
      <p:cViewPr varScale="1">
        <p:scale>
          <a:sx n="104" d="100"/>
          <a:sy n="104" d="100"/>
        </p:scale>
        <p:origin x="144" y="354"/>
      </p:cViewPr>
      <p:guideLst/>
    </p:cSldViewPr>
  </p:slideViewPr>
  <p:outlineViewPr>
    <p:cViewPr>
      <p:scale>
        <a:sx n="33" d="100"/>
        <a:sy n="33" d="100"/>
      </p:scale>
      <p:origin x="0" y="-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1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D92C4-8642-47F5-8AFC-F84742FF031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44C85-93BD-498A-A454-D7417AE0A36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483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344C85-93BD-498A-A454-D7417AE0A366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637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556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749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54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11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24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84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129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815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456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557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718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915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081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579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683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9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46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2A125-8317-456E-ACEA-7494CB9DA045}" type="datetimeFigureOut">
              <a:rPr lang="es-MX" smtClean="0"/>
              <a:t>26/02/2024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4E4DA-DF95-4E32-9807-74E44C959C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584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1.wdp"/><Relationship Id="rId7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4.xml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4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.xm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80192" y="678605"/>
            <a:ext cx="4498911" cy="6845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s-MX" sz="3200" dirty="0" smtClean="0"/>
              <a:t>AWS Network Firewall</a:t>
            </a:r>
            <a:endParaRPr lang="es-MX" sz="3200" dirty="0"/>
          </a:p>
        </p:txBody>
      </p:sp>
      <p:pic>
        <p:nvPicPr>
          <p:cNvPr id="1026" name="Picture 2" descr="https://lh7-us.googleusercontent.com/_bi4E972g6JA7ToKyEVgRhtsjRdQxbAxhyyZ_bhKUVQT_Ia6Mjl2rEREn9msR2YFdjJ7nhAKI_XzMgIa71ibntxBLNmAqRWJXzCy9gDp-KCFzTcYRiVcchSzNdCTxxoelpIptqpzF0Fxl4OlzHCam_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1000"/>
                    </a14:imgEffect>
                    <a14:imgEffect>
                      <a14:saturation sat="97000"/>
                    </a14:imgEffect>
                    <a14:imgEffect>
                      <a14:brightnessContrast bright="100000" contrast="-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576" y="351663"/>
            <a:ext cx="5149042" cy="216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693249" y="1296672"/>
            <a:ext cx="4672798" cy="64633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Estudiante: Carvajal Cruz Axel Joan</a:t>
            </a:r>
          </a:p>
          <a:p>
            <a:pPr algn="ctr"/>
            <a:r>
              <a:rPr lang="es-419" dirty="0" smtClean="0"/>
              <a:t>Ing. Datos e Inteligencia Organizacional</a:t>
            </a:r>
            <a:endParaRPr lang="es-MX" dirty="0"/>
          </a:p>
        </p:txBody>
      </p:sp>
      <p:sp>
        <p:nvSpPr>
          <p:cNvPr id="7" name="Recortar rectángulo de esquina diagonal 6">
            <a:hlinkClick r:id="rId4" action="ppaction://hlinksldjump"/>
          </p:cNvPr>
          <p:cNvSpPr/>
          <p:nvPr/>
        </p:nvSpPr>
        <p:spPr>
          <a:xfrm>
            <a:off x="8767676" y="3202114"/>
            <a:ext cx="2443942" cy="794014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Funcionamiento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ortar rectángulo de esquina diagonal 7">
            <a:hlinkClick r:id="rId5" action="ppaction://hlinksldjump"/>
          </p:cNvPr>
          <p:cNvSpPr/>
          <p:nvPr/>
        </p:nvSpPr>
        <p:spPr>
          <a:xfrm>
            <a:off x="6062576" y="4324302"/>
            <a:ext cx="2443942" cy="794014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Casos de uso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ortar rectángulo de esquina diagonal 8">
            <a:hlinkClick r:id="rId6" action="ppaction://hlinksldjump"/>
          </p:cNvPr>
          <p:cNvSpPr/>
          <p:nvPr/>
        </p:nvSpPr>
        <p:spPr>
          <a:xfrm>
            <a:off x="8767676" y="4323761"/>
            <a:ext cx="2443942" cy="794014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 y Recomendaciones de implementación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7" action="ppaction://hlinksldjump"/>
          </p:cNvPr>
          <p:cNvSpPr/>
          <p:nvPr/>
        </p:nvSpPr>
        <p:spPr>
          <a:xfrm>
            <a:off x="6062576" y="3205350"/>
            <a:ext cx="2443942" cy="791587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¿Por qué escoger AWS Network Firewall?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2" descr="AWS Network Firewall | NDS Cloud Tech Blog"/>
          <p:cNvPicPr>
            <a:picLocks noChangeAspect="1" noChangeArrowheads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496" y="2385104"/>
            <a:ext cx="3388302" cy="3388302"/>
          </a:xfrm>
          <a:prstGeom prst="rect">
            <a:avLst/>
          </a:prstGeom>
          <a:ln w="190500" cap="sq">
            <a:solidFill>
              <a:schemeClr val="tx2">
                <a:lumMod val="1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25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ortar rectángulo de esquina diagonal 8">
            <a:hlinkClick r:id="rId3" action="ppaction://hlinksldjump"/>
          </p:cNvPr>
          <p:cNvSpPr/>
          <p:nvPr/>
        </p:nvSpPr>
        <p:spPr>
          <a:xfrm>
            <a:off x="392523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4" action="ppaction://hlinksldjump"/>
          </p:cNvPr>
          <p:cNvSpPr/>
          <p:nvPr/>
        </p:nvSpPr>
        <p:spPr>
          <a:xfrm>
            <a:off x="392523" y="2152775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AWS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1687853" y="1057973"/>
            <a:ext cx="8761413" cy="7069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¿Por qué escogerlo?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047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2277140" y="3377773"/>
            <a:ext cx="7582841" cy="287655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pPr algn="just"/>
            <a:r>
              <a:rPr lang="es-MX" dirty="0">
                <a:effectLst/>
              </a:rPr>
              <a:t>Con AWS Network Firewall, puede crear reglas de firewall que proporcionen un control detallado del tráfico de red y desplegar de manera sencilla la seguridad del firewall a través de sus VPC</a:t>
            </a:r>
            <a:r>
              <a:rPr lang="es-MX" dirty="0" smtClean="0">
                <a:effectLst/>
              </a:rPr>
              <a:t>.</a:t>
            </a:r>
          </a:p>
          <a:p>
            <a:pPr algn="just"/>
            <a:r>
              <a:rPr lang="es-MX" b="1" dirty="0">
                <a:effectLst/>
              </a:rPr>
              <a:t>Capacidades avanzadas de seguridad:</a:t>
            </a:r>
            <a:r>
              <a:rPr lang="es-MX" dirty="0">
                <a:effectLst/>
              </a:rPr>
              <a:t> Ofrece características avanzadas de seguridad, como la inspección de tráfico a nivel de aplicación y la detección de amenazas en tiempo real, que ayudan a proteger contra una amplia gama de ataques cibernéticos, incluyendo intrusiones, malware y vulnerabilidades de aplicaciones.</a:t>
            </a:r>
            <a:endParaRPr lang="es-MX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7853" y="1057973"/>
            <a:ext cx="8761413" cy="7069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s-419" dirty="0">
                <a:solidFill>
                  <a:schemeClr val="bg2">
                    <a:lumMod val="40000"/>
                    <a:lumOff val="60000"/>
                  </a:schemeClr>
                </a:solidFill>
              </a:rPr>
              <a:t>¿Por qué escogerlo?</a:t>
            </a:r>
            <a:endParaRPr lang="es-MX" sz="6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ortar rectángulo de esquina diagonal 8">
            <a:hlinkClick r:id="rId4" action="ppaction://hlinksldjump"/>
          </p:cNvPr>
          <p:cNvSpPr/>
          <p:nvPr/>
        </p:nvSpPr>
        <p:spPr>
          <a:xfrm>
            <a:off x="397145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5" action="ppaction://hlinksldjump"/>
          </p:cNvPr>
          <p:cNvSpPr/>
          <p:nvPr/>
        </p:nvSpPr>
        <p:spPr>
          <a:xfrm>
            <a:off x="397145" y="2152775"/>
            <a:ext cx="2443942" cy="411123"/>
          </a:xfrm>
          <a:prstGeom prst="snip2DiagRect">
            <a:avLst/>
          </a:prstGeom>
          <a:solidFill>
            <a:schemeClr val="bg2"/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AWS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43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ortar rectángulo de esquina diagonal 8">
            <a:hlinkClick r:id="rId2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3" action="ppaction://hlinksldjump"/>
          </p:cNvPr>
          <p:cNvSpPr/>
          <p:nvPr/>
        </p:nvSpPr>
        <p:spPr>
          <a:xfrm>
            <a:off x="2277142" y="2152775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Funciones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ortar rectángulo de esquina diagonal 10">
            <a:hlinkClick r:id="rId4" action="ppaction://hlinksldjump"/>
          </p:cNvPr>
          <p:cNvSpPr/>
          <p:nvPr/>
        </p:nvSpPr>
        <p:spPr>
          <a:xfrm>
            <a:off x="7416041" y="215277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Diagrama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1687853" y="1057973"/>
            <a:ext cx="8761413" cy="7069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MX" sz="36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Funcionamiento</a:t>
            </a:r>
            <a:endParaRPr lang="es-MX" sz="36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7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contenido 2"/>
          <p:cNvSpPr>
            <a:spLocks noGrp="1"/>
          </p:cNvSpPr>
          <p:nvPr>
            <p:ph idx="1"/>
          </p:nvPr>
        </p:nvSpPr>
        <p:spPr>
          <a:xfrm>
            <a:off x="2277140" y="3377773"/>
            <a:ext cx="7582841" cy="287655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just"/>
            <a:r>
              <a:rPr lang="es-MX" dirty="0">
                <a:effectLst/>
              </a:rPr>
              <a:t>Con AWS Network Firewall, puede definir reglas de firewall que proporcionen un control detallado del tráfico de red</a:t>
            </a:r>
            <a:r>
              <a:rPr lang="es-MX" dirty="0" smtClean="0">
                <a:effectLst/>
              </a:rPr>
              <a:t>.</a:t>
            </a:r>
          </a:p>
          <a:p>
            <a:pPr algn="just"/>
            <a:r>
              <a:rPr lang="es-MX" dirty="0" smtClean="0">
                <a:effectLst/>
              </a:rPr>
              <a:t> </a:t>
            </a:r>
            <a:r>
              <a:rPr lang="es-MX" dirty="0">
                <a:effectLst/>
              </a:rPr>
              <a:t>Network Firewall colabora con AWS Firewall Manager, de modo que puede crear políticas basadas en reglas de Network Firewall y luego aplicar de manera centralizada dichas políticas en sus cuentas y nubes virtuales privadas (VPC).</a:t>
            </a:r>
            <a:endParaRPr lang="es-MX" sz="32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7853" y="1057973"/>
            <a:ext cx="8761413" cy="7069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MX" sz="36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Funcionamiento</a:t>
            </a:r>
            <a:endParaRPr lang="es-MX" sz="36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ortar rectángulo de esquina diagonal 8">
            <a:hlinkClick r:id="rId4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5" action="ppaction://hlinksldjump"/>
          </p:cNvPr>
          <p:cNvSpPr/>
          <p:nvPr/>
        </p:nvSpPr>
        <p:spPr>
          <a:xfrm>
            <a:off x="2277142" y="2152775"/>
            <a:ext cx="2443942" cy="411123"/>
          </a:xfrm>
          <a:prstGeom prst="snip2DiagRect">
            <a:avLst/>
          </a:prstGeom>
          <a:solidFill>
            <a:schemeClr val="bg2"/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Funciones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ortar rectángulo de esquina diagonal 10">
            <a:hlinkClick r:id="rId6" action="ppaction://hlinksldjump"/>
          </p:cNvPr>
          <p:cNvSpPr/>
          <p:nvPr/>
        </p:nvSpPr>
        <p:spPr>
          <a:xfrm>
            <a:off x="7416041" y="215277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Diagrama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03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7853" y="1057973"/>
            <a:ext cx="8761413" cy="7069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MX" sz="360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Funcionamiento</a:t>
            </a:r>
            <a:endParaRPr lang="es-MX" sz="36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ortar rectángulo de esquina diagonal 8">
            <a:hlinkClick r:id="rId3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4" action="ppaction://hlinksldjump"/>
          </p:cNvPr>
          <p:cNvSpPr/>
          <p:nvPr/>
        </p:nvSpPr>
        <p:spPr>
          <a:xfrm>
            <a:off x="2277142" y="2152775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Funciones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ortar rectángulo de esquina diagonal 10">
            <a:hlinkClick r:id="rId5" action="ppaction://hlinksldjump"/>
          </p:cNvPr>
          <p:cNvSpPr/>
          <p:nvPr/>
        </p:nvSpPr>
        <p:spPr>
          <a:xfrm>
            <a:off x="7416041" y="2152774"/>
            <a:ext cx="2443942" cy="411123"/>
          </a:xfrm>
          <a:prstGeom prst="snip2DiagRect">
            <a:avLst/>
          </a:prstGeom>
          <a:solidFill>
            <a:schemeClr val="bg2"/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Diagrama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-4580806" y="5201897"/>
            <a:ext cx="1842384" cy="723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pic>
        <p:nvPicPr>
          <p:cNvPr id="14" name="Picture 2" descr="Diagrama en el que se muestra cómo AWS Network Firewall inspecciona y filtra todo el tráfico que entra al firewall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018" y="3028847"/>
            <a:ext cx="6390596" cy="3574402"/>
          </a:xfrm>
          <a:prstGeom prst="rect">
            <a:avLst/>
          </a:prstGeom>
          <a:ln w="190500" cap="sq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58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3171" y="1139923"/>
            <a:ext cx="8761413" cy="706964"/>
          </a:xfrm>
        </p:spPr>
        <p:txBody>
          <a:bodyPr/>
          <a:lstStyle/>
          <a:p>
            <a:pPr algn="ctr"/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Casos de uso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ortar rectángulo de esquina diagonal 11">
            <a:hlinkClick r:id="rId2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ortar rectángulo de esquina diagonal 12">
            <a:hlinkClick r:id="rId3" action="ppaction://hlinksldjump"/>
          </p:cNvPr>
          <p:cNvSpPr/>
          <p:nvPr/>
        </p:nvSpPr>
        <p:spPr>
          <a:xfrm>
            <a:off x="263967" y="1964661"/>
            <a:ext cx="2791533" cy="493200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Casos de uso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2" descr="Diagrama en el que se muestra cómo AWS Network Firewall inspecciona y filtra todo el tráfico que entra al firewall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018" y="3028847"/>
            <a:ext cx="6390596" cy="3574402"/>
          </a:xfrm>
          <a:prstGeom prst="rect">
            <a:avLst/>
          </a:prstGeom>
          <a:ln w="190500" cap="sq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187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Diagrama en el que se muestra cómo AWS Network Firewall inspecciona y filtra todo el tráfico que entra al firewall.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bg1">
                <a:lumMod val="95000"/>
                <a:lumOff val="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018" y="3028847"/>
            <a:ext cx="6390596" cy="3574402"/>
          </a:xfrm>
          <a:prstGeom prst="rect">
            <a:avLst/>
          </a:prstGeom>
          <a:ln w="190500" cap="sq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3171" y="1139923"/>
            <a:ext cx="8761413" cy="706964"/>
          </a:xfrm>
        </p:spPr>
        <p:txBody>
          <a:bodyPr/>
          <a:lstStyle/>
          <a:p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Casos de uso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2959332" y="3108960"/>
            <a:ext cx="6217920" cy="3424844"/>
          </a:xfrm>
        </p:spPr>
        <p:txBody>
          <a:bodyPr>
            <a:normAutofit/>
          </a:bodyPr>
          <a:lstStyle/>
          <a:p>
            <a:pPr algn="just"/>
            <a:r>
              <a:rPr lang="es-419" dirty="0" smtClean="0"/>
              <a:t>Inspeccione el tráfico de Internet entrante</a:t>
            </a:r>
          </a:p>
          <a:p>
            <a:pPr algn="just"/>
            <a:r>
              <a:rPr lang="es-419" dirty="0" smtClean="0"/>
              <a:t>Filtrado del tráfico saliente</a:t>
            </a:r>
          </a:p>
          <a:p>
            <a:pPr algn="just"/>
            <a:r>
              <a:rPr lang="es-419" dirty="0" smtClean="0"/>
              <a:t>Prevención de la intrusión de tráfico de Internet entrante</a:t>
            </a:r>
          </a:p>
          <a:p>
            <a:pPr algn="just"/>
            <a:r>
              <a:rPr lang="es-419" dirty="0" smtClean="0"/>
              <a:t>Protección del tráfico de la VPN y de AWS </a:t>
            </a:r>
            <a:r>
              <a:rPr lang="es-419" dirty="0" err="1" smtClean="0"/>
              <a:t>Direct</a:t>
            </a:r>
            <a:r>
              <a:rPr lang="es-419" dirty="0" smtClean="0"/>
              <a:t> </a:t>
            </a:r>
            <a:r>
              <a:rPr lang="es-419" dirty="0" err="1" smtClean="0"/>
              <a:t>Connect</a:t>
            </a:r>
            <a:endParaRPr lang="es-MX" dirty="0"/>
          </a:p>
        </p:txBody>
      </p:sp>
      <p:sp>
        <p:nvSpPr>
          <p:cNvPr id="11" name="Recortar rectángulo de esquina diagonal 10">
            <a:hlinkClick r:id="rId4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Recortar rectángulo de esquina diagonal 17">
            <a:hlinkClick r:id="rId5" action="ppaction://hlinksldjump"/>
          </p:cNvPr>
          <p:cNvSpPr/>
          <p:nvPr/>
        </p:nvSpPr>
        <p:spPr>
          <a:xfrm>
            <a:off x="263959" y="1967128"/>
            <a:ext cx="2791533" cy="493200"/>
          </a:xfrm>
          <a:prstGeom prst="snip2Diag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Casos de uso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05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ortar rectángulo de esquina diagonal 8">
            <a:hlinkClick r:id="rId2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3" action="ppaction://hlinksldjump"/>
          </p:cNvPr>
          <p:cNvSpPr/>
          <p:nvPr/>
        </p:nvSpPr>
        <p:spPr>
          <a:xfrm>
            <a:off x="2277142" y="2152775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ortar rectángulo de esquina diagonal 10">
            <a:hlinkClick r:id="rId4" action="ppaction://hlinksldjump"/>
          </p:cNvPr>
          <p:cNvSpPr/>
          <p:nvPr/>
        </p:nvSpPr>
        <p:spPr>
          <a:xfrm>
            <a:off x="7416041" y="215277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Recomendaciones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AutoShape 2" descr="Inteligencia artificial: las 5 funciones más destacadas para 202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3" name="Título 1"/>
          <p:cNvSpPr txBox="1">
            <a:spLocks/>
          </p:cNvSpPr>
          <p:nvPr/>
        </p:nvSpPr>
        <p:spPr>
          <a:xfrm>
            <a:off x="1687855" y="1057973"/>
            <a:ext cx="8761413" cy="7069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 y recomendaciones de implementación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  <p:pic>
        <p:nvPicPr>
          <p:cNvPr id="12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ln w="190500" cap="sq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20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ln w="190500" cap="sq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/>
          <p:cNvSpPr>
            <a:spLocks noGrp="1"/>
          </p:cNvSpPr>
          <p:nvPr>
            <p:ph idx="1"/>
          </p:nvPr>
        </p:nvSpPr>
        <p:spPr>
          <a:xfrm>
            <a:off x="2360815" y="3458095"/>
            <a:ext cx="7423265" cy="271826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85000" lnSpcReduction="10000"/>
          </a:bodyPr>
          <a:lstStyle/>
          <a:p>
            <a:r>
              <a:rPr lang="es-MX" b="1" dirty="0">
                <a:effectLst/>
              </a:rPr>
              <a:t>Configuración de reglas basadas en el principio de mínimos privilegios:</a:t>
            </a:r>
            <a:r>
              <a:rPr lang="es-MX" dirty="0">
                <a:effectLst/>
              </a:rPr>
              <a:t> Limitar el tráfico permitido solo a lo necesario para reducir la superficie de ataque y mitigar el riesgo de exposición a amenazas.</a:t>
            </a:r>
          </a:p>
          <a:p>
            <a:r>
              <a:rPr lang="es-MX" b="1" dirty="0">
                <a:effectLst/>
              </a:rPr>
              <a:t>Monitorización continua y análisis de registros:</a:t>
            </a:r>
            <a:r>
              <a:rPr lang="es-MX" dirty="0">
                <a:effectLst/>
              </a:rPr>
              <a:t> Establecer una estrategia de monitorización proactiva para identificar y responder rápidamente a posibles amenazas, aprovechando las capacidades de registro y análisis de AWS Network Firewall.</a:t>
            </a:r>
          </a:p>
        </p:txBody>
      </p:sp>
      <p:sp>
        <p:nvSpPr>
          <p:cNvPr id="9" name="Recortar rectángulo de esquina diagonal 8">
            <a:hlinkClick r:id="rId4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5" action="ppaction://hlinksldjump"/>
          </p:cNvPr>
          <p:cNvSpPr/>
          <p:nvPr/>
        </p:nvSpPr>
        <p:spPr>
          <a:xfrm>
            <a:off x="2277142" y="2152775"/>
            <a:ext cx="2443942" cy="411123"/>
          </a:xfrm>
          <a:prstGeom prst="snip2Diag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ortar rectángulo de esquina diagonal 10">
            <a:hlinkClick r:id="rId6" action="ppaction://hlinksldjump"/>
          </p:cNvPr>
          <p:cNvSpPr/>
          <p:nvPr/>
        </p:nvSpPr>
        <p:spPr>
          <a:xfrm>
            <a:off x="7416041" y="215277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Recomendaciones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1687855" y="1057973"/>
            <a:ext cx="8761413" cy="7069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 y recomendaciones de implementación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785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AWS Network Firewall – New Managed Firewall Service in VPC | AWS News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748" b="13112"/>
          <a:stretch/>
        </p:blipFill>
        <p:spPr bwMode="auto">
          <a:xfrm>
            <a:off x="2277142" y="3377773"/>
            <a:ext cx="7582841" cy="2876551"/>
          </a:xfrm>
          <a:prstGeom prst="rect">
            <a:avLst/>
          </a:prstGeom>
          <a:ln w="190500" cap="sq">
            <a:solidFill>
              <a:schemeClr val="bg2">
                <a:lumMod val="50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ortar rectángulo de esquina diagonal 8">
            <a:hlinkClick r:id="rId4" action="ppaction://hlinksldjump"/>
          </p:cNvPr>
          <p:cNvSpPr/>
          <p:nvPr/>
        </p:nvSpPr>
        <p:spPr>
          <a:xfrm>
            <a:off x="429076" y="259014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Menú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ortar rectángulo de esquina diagonal 9">
            <a:hlinkClick r:id="rId5" action="ppaction://hlinksldjump"/>
          </p:cNvPr>
          <p:cNvSpPr/>
          <p:nvPr/>
        </p:nvSpPr>
        <p:spPr>
          <a:xfrm>
            <a:off x="2277142" y="2152775"/>
            <a:ext cx="2443942" cy="411123"/>
          </a:xfrm>
          <a:prstGeom prst="snip2DiagRect">
            <a:avLst/>
          </a:prstGeom>
          <a:solidFill>
            <a:schemeClr val="tx2">
              <a:lumMod val="10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ortar rectángulo de esquina diagonal 10">
            <a:hlinkClick r:id="rId6" action="ppaction://hlinksldjump"/>
          </p:cNvPr>
          <p:cNvSpPr/>
          <p:nvPr/>
        </p:nvSpPr>
        <p:spPr>
          <a:xfrm>
            <a:off x="7416041" y="2152774"/>
            <a:ext cx="2443942" cy="411123"/>
          </a:xfrm>
          <a:prstGeom prst="snip2Diag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Recomendaciones</a:t>
            </a:r>
            <a:endParaRPr lang="es-MX" sz="1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Marcador de contenido 2"/>
          <p:cNvSpPr>
            <a:spLocks noGrp="1"/>
          </p:cNvSpPr>
          <p:nvPr>
            <p:ph idx="1"/>
          </p:nvPr>
        </p:nvSpPr>
        <p:spPr>
          <a:xfrm>
            <a:off x="2377441" y="3458095"/>
            <a:ext cx="7365076" cy="270163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85000" lnSpcReduction="10000"/>
          </a:bodyPr>
          <a:lstStyle/>
          <a:p>
            <a:r>
              <a:rPr lang="es-MX" b="1" dirty="0">
                <a:effectLst/>
              </a:rPr>
              <a:t>Colaboración con otros servicios de seguridad de AWS:</a:t>
            </a:r>
            <a:r>
              <a:rPr lang="es-MX" dirty="0">
                <a:effectLst/>
              </a:rPr>
              <a:t> Integrar AWS Network Firewall con servicios complementarios de AWS, como AWS </a:t>
            </a:r>
            <a:r>
              <a:rPr lang="es-MX" dirty="0" err="1">
                <a:effectLst/>
              </a:rPr>
              <a:t>GuardDuty</a:t>
            </a:r>
            <a:r>
              <a:rPr lang="es-MX" dirty="0">
                <a:effectLst/>
              </a:rPr>
              <a:t> y Amazon Inspector, para obtener una defensa multicapa contra amenazas.</a:t>
            </a:r>
          </a:p>
          <a:p>
            <a:r>
              <a:rPr lang="es-MX" b="1" dirty="0">
                <a:effectLst/>
              </a:rPr>
              <a:t>Aplicación de políticas de cumplimiento:</a:t>
            </a:r>
            <a:r>
              <a:rPr lang="es-MX" dirty="0">
                <a:effectLst/>
              </a:rPr>
              <a:t> Alinear la configuración de AWS Network Firewall con los estándares de cumplimiento y regulaciones relevantes, como PCI DSS y HIPAA, para garantizar la seguridad y la conformidad de los datos.</a:t>
            </a:r>
          </a:p>
        </p:txBody>
      </p:sp>
      <p:sp>
        <p:nvSpPr>
          <p:cNvPr id="13" name="Título 1"/>
          <p:cNvSpPr txBox="1">
            <a:spLocks/>
          </p:cNvSpPr>
          <p:nvPr/>
        </p:nvSpPr>
        <p:spPr>
          <a:xfrm>
            <a:off x="1687855" y="1057973"/>
            <a:ext cx="8761413" cy="7069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Mejores prácticas y recomendaciones de implementación</a:t>
            </a:r>
            <a:endParaRPr lang="es-MX" dirty="0">
              <a:solidFill>
                <a:schemeClr val="bg2">
                  <a:lumMod val="40000"/>
                  <a:lumOff val="6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453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1226</TotalTime>
  <Words>418</Words>
  <Application>Microsoft Office PowerPoint</Application>
  <PresentationFormat>Panorámica</PresentationFormat>
  <Paragraphs>56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Rockwell</vt:lpstr>
      <vt:lpstr>Calibri</vt:lpstr>
      <vt:lpstr>Bookman Old Style</vt:lpstr>
      <vt:lpstr>Damask</vt:lpstr>
      <vt:lpstr>Presentación de PowerPoint</vt:lpstr>
      <vt:lpstr>Presentación de PowerPoint</vt:lpstr>
      <vt:lpstr>¿Por qué escogerlo?</vt:lpstr>
      <vt:lpstr>Funcionamiento</vt:lpstr>
      <vt:lpstr>Funcionamiento</vt:lpstr>
      <vt:lpstr>Funcionamiento</vt:lpstr>
      <vt:lpstr>Casos de uso</vt:lpstr>
      <vt:lpstr>Casos de uso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</dc:title>
  <dc:creator>ASUS</dc:creator>
  <cp:lastModifiedBy>ASUS</cp:lastModifiedBy>
  <cp:revision>71</cp:revision>
  <dcterms:created xsi:type="dcterms:W3CDTF">2024-01-21T15:52:21Z</dcterms:created>
  <dcterms:modified xsi:type="dcterms:W3CDTF">2024-02-27T03:14:02Z</dcterms:modified>
</cp:coreProperties>
</file>